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2"/>
  </p:notesMasterIdLst>
  <p:sldIdLst>
    <p:sldId id="1300" r:id="rId5"/>
    <p:sldId id="1291" r:id="rId6"/>
    <p:sldId id="1301" r:id="rId7"/>
    <p:sldId id="1302" r:id="rId8"/>
    <p:sldId id="1295" r:id="rId9"/>
    <p:sldId id="1296" r:id="rId10"/>
    <p:sldId id="1250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A7C"/>
    <a:srgbClr val="EDEEFF"/>
    <a:srgbClr val="F9FFEB"/>
    <a:srgbClr val="EDFFC5"/>
    <a:srgbClr val="7FBA00"/>
    <a:srgbClr val="EBEEF9"/>
    <a:srgbClr val="213164"/>
    <a:srgbClr val="FED500"/>
    <a:srgbClr val="484F9E"/>
    <a:srgbClr val="F6A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82" autoAdjust="0"/>
  </p:normalViewPr>
  <p:slideViewPr>
    <p:cSldViewPr snapToGrid="0">
      <p:cViewPr varScale="1">
        <p:scale>
          <a:sx n="102" d="100"/>
          <a:sy n="102" d="100"/>
        </p:scale>
        <p:origin x="918" y="108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978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1658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113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812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3845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27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limatepromise.undp.org/news-and-stories/what-climate-change-mitigation-and-why-it-urge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2540B31-8123-24C6-B0F3-4444B51E9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1435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AA95F-56F4-3F03-5804-8F7C6AFCE0BB}"/>
              </a:ext>
            </a:extLst>
          </p:cNvPr>
          <p:cNvSpPr/>
          <p:nvPr/>
        </p:nvSpPr>
        <p:spPr>
          <a:xfrm>
            <a:off x="8885816" y="584200"/>
            <a:ext cx="166153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5316D-1E70-9E4D-C82D-DC6493EC4CED}"/>
              </a:ext>
            </a:extLst>
          </p:cNvPr>
          <p:cNvSpPr txBox="1"/>
          <p:nvPr/>
        </p:nvSpPr>
        <p:spPr>
          <a:xfrm>
            <a:off x="5719271" y="1661373"/>
            <a:ext cx="466343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sz="4000" b="1" dirty="0">
                <a:solidFill>
                  <a:schemeClr val="bg1"/>
                </a:solidFill>
                <a:latin typeface="Bahnschrift Condensed" panose="020B0502040204020203" pitchFamily="34" charset="0"/>
                <a:ea typeface="Adobe Myungjo Std M" panose="02020600000000000000" pitchFamily="18" charset="-128"/>
              </a:rPr>
              <a:t>Climate </a:t>
            </a:r>
            <a:r>
              <a:rPr lang="en-US" sz="4000" b="1" dirty="0">
                <a:solidFill>
                  <a:schemeClr val="bg1"/>
                </a:solidFill>
                <a:latin typeface="Bahnschrift Condensed" panose="020B0502040204020203" pitchFamily="34" charset="0"/>
                <a:ea typeface="Adobe Myungjo Std M" panose="02020600000000000000" pitchFamily="18" charset="-128"/>
              </a:rPr>
              <a:t>Change</a:t>
            </a:r>
            <a:r>
              <a:rPr sz="4000" b="1" dirty="0">
                <a:solidFill>
                  <a:schemeClr val="bg1"/>
                </a:solidFill>
                <a:latin typeface="Bahnschrift Condensed" panose="020B0502040204020203" pitchFamily="34" charset="0"/>
                <a:ea typeface="Adobe Myungjo Std M" panose="02020600000000000000" pitchFamily="18" charset="-128"/>
              </a:rPr>
              <a:t> Mitigation</a:t>
            </a: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A27540A-9E08-71C9-C49B-6AA04DE6EB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325" y="834658"/>
            <a:ext cx="1263157" cy="410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8525A2-49D0-AAD6-F4EE-F488AD21601D}"/>
              </a:ext>
            </a:extLst>
          </p:cNvPr>
          <p:cNvSpPr txBox="1"/>
          <p:nvPr/>
        </p:nvSpPr>
        <p:spPr>
          <a:xfrm>
            <a:off x="5194173" y="4033460"/>
            <a:ext cx="4230645" cy="108491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Jathin M               	[4PS24CI023]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M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Thilak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gowda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[4PS24CI009]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Hemanth K S        	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[4PS24CI022]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Prajwal M</a:t>
            </a:r>
            <a:r>
              <a:rPr lang="en-US" sz="15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	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[4PS24CI035]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00002-9AF9-496E-89ED-604745DA4EEC}"/>
              </a:ext>
            </a:extLst>
          </p:cNvPr>
          <p:cNvSpPr txBox="1"/>
          <p:nvPr/>
        </p:nvSpPr>
        <p:spPr>
          <a:xfrm>
            <a:off x="4899579" y="3078121"/>
            <a:ext cx="6077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+mn-lt"/>
              </a:rPr>
              <a:t>PES COLLEGE OF ENGINEERING, MANDYA</a:t>
            </a:r>
            <a:endParaRPr lang="en-US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11B81-C0FC-4820-845B-5E3881710D7B}"/>
              </a:ext>
            </a:extLst>
          </p:cNvPr>
          <p:cNvSpPr txBox="1"/>
          <p:nvPr/>
        </p:nvSpPr>
        <p:spPr>
          <a:xfrm>
            <a:off x="4899579" y="3595633"/>
            <a:ext cx="6160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MEMBERS                              USN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6F93D9-FC05-44C8-8FAA-442E635DA57B}"/>
              </a:ext>
            </a:extLst>
          </p:cNvPr>
          <p:cNvSpPr txBox="1"/>
          <p:nvPr/>
        </p:nvSpPr>
        <p:spPr>
          <a:xfrm>
            <a:off x="4899579" y="5104141"/>
            <a:ext cx="62316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effectLst/>
                <a:latin typeface="Roboto" panose="020B0604020202020204" pitchFamily="2" charset="0"/>
              </a:rPr>
              <a:t>TEAM ID: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Roboto" panose="020B0604020202020204" pitchFamily="2" charset="0"/>
              </a:rPr>
              <a:t>S4F_CP_Team_47747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5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564204" y="2043941"/>
            <a:ext cx="106499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/>
              <a:t>It focuses on reducing greenhouse gas emissions through renewable energy, forest conservation, and sustainable practices under the Paris Agreement to achieve a low-carbon future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1DB6F-3EF1-B8E1-0B0C-6BB8EF6A90DC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2C555-3BC3-F99C-66A0-2DF7D76A686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5C893-2FDF-21FF-3B51-777D91501B7C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926B8F-1272-4DA3-AB57-A4E992D50A05}"/>
              </a:ext>
            </a:extLst>
          </p:cNvPr>
          <p:cNvSpPr txBox="1"/>
          <p:nvPr/>
        </p:nvSpPr>
        <p:spPr>
          <a:xfrm>
            <a:off x="199808" y="802639"/>
            <a:ext cx="9527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strike="noStrike" kern="0" cap="none" spc="0" normalizeH="0" baseline="0" noProof="0" dirty="0">
                <a:ln>
                  <a:noFill/>
                </a:ln>
                <a:solidFill>
                  <a:srgbClr val="061A7C"/>
                </a:solidFill>
                <a:effectLst/>
                <a:uLnTx/>
                <a:uFillTx/>
                <a:latin typeface="Arial Narrow" panose="020B0606020202030204" pitchFamily="34" charset="0"/>
                <a:ea typeface="Adobe Myungjo Std M" panose="02020600000000000000" pitchFamily="18" charset="-128"/>
                <a:sym typeface="Arial"/>
              </a:rPr>
              <a:t>Climate Change Mitigation Strategies: A Global Perspective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3D80A-5351-49C9-8EE6-6D396DF4D48F}"/>
              </a:ext>
            </a:extLst>
          </p:cNvPr>
          <p:cNvSpPr txBox="1"/>
          <p:nvPr/>
        </p:nvSpPr>
        <p:spPr>
          <a:xfrm>
            <a:off x="564204" y="3429000"/>
            <a:ext cx="992527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/>
              <a:t>The case study addresses rising greenhouse gas emissions causing climate change, extreme weather, and environmental harm, highlighting the need for effective mitigation and sustainable development.</a:t>
            </a:r>
          </a:p>
        </p:txBody>
      </p: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B843F-6928-3290-2287-5FA1F531B685}"/>
              </a:ext>
            </a:extLst>
          </p:cNvPr>
          <p:cNvSpPr txBox="1"/>
          <p:nvPr/>
        </p:nvSpPr>
        <p:spPr>
          <a:xfrm>
            <a:off x="199809" y="1227033"/>
            <a:ext cx="10435915" cy="1241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dirty="0"/>
              <a:t>The dataset used for this study is sourced from the Global Carbon Project (GCP), containing emission data from 1960–2024 across 200 countries. It includes variables such as CO₂ emissions, GDP, population, and energy consumption metrics, enabling correlation analysis between development and emissions.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1DB6F-3EF1-B8E1-0B0C-6BB8EF6A90DC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2C555-3BC3-F99C-66A0-2DF7D76A686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5C893-2FDF-21FF-3B51-777D91501B7C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9F73A9-8122-4FE5-8281-BEA54E692A0C}"/>
              </a:ext>
            </a:extLst>
          </p:cNvPr>
          <p:cNvSpPr txBox="1"/>
          <p:nvPr/>
        </p:nvSpPr>
        <p:spPr>
          <a:xfrm>
            <a:off x="502544" y="3660886"/>
            <a:ext cx="70011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To examine global strategies for reducing greenhouse gas emissions.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To assess international efforts, such as the Paris Agreement, in mitigating climate change.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To promote sustainable and low-carbon development worldwide.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B7114-4419-4AF5-8A44-151D371D4948}"/>
              </a:ext>
            </a:extLst>
          </p:cNvPr>
          <p:cNvSpPr txBox="1"/>
          <p:nvPr/>
        </p:nvSpPr>
        <p:spPr>
          <a:xfrm>
            <a:off x="199809" y="3007286"/>
            <a:ext cx="610856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061A7C"/>
                </a:solidFill>
              </a:rPr>
              <a:t>Key Objectives: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40CCA-ACBE-4248-A6C0-F962EC7BA629}"/>
              </a:ext>
            </a:extLst>
          </p:cNvPr>
          <p:cNvSpPr txBox="1"/>
          <p:nvPr/>
        </p:nvSpPr>
        <p:spPr>
          <a:xfrm>
            <a:off x="199809" y="765114"/>
            <a:ext cx="6108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213163"/>
                </a:solidFill>
              </a:rPr>
              <a:t>Dataset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28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B843F-6928-3290-2287-5FA1F531B685}"/>
              </a:ext>
            </a:extLst>
          </p:cNvPr>
          <p:cNvSpPr txBox="1"/>
          <p:nvPr/>
        </p:nvSpPr>
        <p:spPr>
          <a:xfrm>
            <a:off x="199809" y="1658900"/>
            <a:ext cx="10435915" cy="4391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</a:p>
          <a:p>
            <a:r>
              <a:rPr dirty="0"/>
              <a:t>Our approach involves analyzing global emission trends, sector-wise contributions, and national-level policies. Data visualization and regression analysis are used to assess the relationship between economic growth and carbon output.</a:t>
            </a:r>
          </a:p>
          <a:p>
            <a:endParaRPr dirty="0"/>
          </a:p>
          <a:p>
            <a:endParaRPr dirty="0"/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+mn-lt"/>
                <a:cs typeface="Times New Roman" panose="02020603050405020304" pitchFamily="18" charset="0"/>
              </a:rPr>
              <a:t>DECISION TREE: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CART works well for predicting emission levels.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Random Forest adds robustness and feature importance ranking — useful for identifying top mitigation drivers like energy use, GDP, or policy strictness.</a:t>
            </a:r>
          </a:p>
          <a:p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Methodology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1DB6F-3EF1-B8E1-0B0C-6BB8EF6A90DC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2C555-3BC3-F99C-66A0-2DF7D76A686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5C893-2FDF-21FF-3B51-777D91501B7C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43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0F50E-3048-BEA6-6962-A48C023C0388}"/>
              </a:ext>
            </a:extLst>
          </p:cNvPr>
          <p:cNvSpPr txBox="1"/>
          <p:nvPr/>
        </p:nvSpPr>
        <p:spPr>
          <a:xfrm>
            <a:off x="212231" y="96237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Conclusion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B546F-F91E-160B-DC7F-688AFB5A50EA}"/>
              </a:ext>
            </a:extLst>
          </p:cNvPr>
          <p:cNvSpPr txBox="1"/>
          <p:nvPr/>
        </p:nvSpPr>
        <p:spPr>
          <a:xfrm>
            <a:off x="210313" y="1461898"/>
            <a:ext cx="6341315" cy="1774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+mn-lt"/>
              </a:rPr>
              <a:t>Climate change requires urgent mitigation through low-carbon                 practices.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+mn-lt"/>
              </a:rPr>
              <a:t>Renewable energy, forest conservation, and sustainable    development are key strategies.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+mn-lt"/>
              </a:rPr>
              <a:t>Global cooperation, like the Paris Agreement, is essential for a sustainable future.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EE1DD-6A31-2A28-F8BE-6E59037422CF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06934-F528-B704-BB31-70471CEEB0BF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7989A-A2B1-6748-7E8A-F0362FB212B6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75F7452F-58BC-17CE-3016-C04F4A0BB5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C54EF7-FD18-4B88-9C26-6C24C90F114C}"/>
              </a:ext>
            </a:extLst>
          </p:cNvPr>
          <p:cNvSpPr txBox="1"/>
          <p:nvPr/>
        </p:nvSpPr>
        <p:spPr>
          <a:xfrm>
            <a:off x="210314" y="3996438"/>
            <a:ext cx="6108568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+mn-lt"/>
              </a:rPr>
              <a:t>Expand renewable energy and carbon removal technologies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+mn-lt"/>
              </a:rPr>
              <a:t>Strengthen global policies and support developing nations.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+mn-lt"/>
              </a:rPr>
              <a:t>Promote sustainable lifestyles and climate-resilient infrastructure.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C58856-5044-468F-BEFB-EC32EF61C333}"/>
              </a:ext>
            </a:extLst>
          </p:cNvPr>
          <p:cNvSpPr txBox="1"/>
          <p:nvPr/>
        </p:nvSpPr>
        <p:spPr>
          <a:xfrm>
            <a:off x="210314" y="3520820"/>
            <a:ext cx="619048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 b="1" dirty="0">
                <a:solidFill>
                  <a:srgbClr val="061A7C"/>
                </a:solidFill>
                <a:latin typeface="+mn-lt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2046321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0F50E-3048-BEA6-6962-A48C023C0388}"/>
              </a:ext>
            </a:extLst>
          </p:cNvPr>
          <p:cNvSpPr txBox="1"/>
          <p:nvPr/>
        </p:nvSpPr>
        <p:spPr>
          <a:xfrm>
            <a:off x="212231" y="96237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References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B546F-F91E-160B-DC7F-688AFB5A50EA}"/>
              </a:ext>
            </a:extLst>
          </p:cNvPr>
          <p:cNvSpPr txBox="1"/>
          <p:nvPr/>
        </p:nvSpPr>
        <p:spPr>
          <a:xfrm>
            <a:off x="210314" y="1461898"/>
            <a:ext cx="5926671" cy="1333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50" dirty="0">
                <a:hlinkClick r:id="rId3"/>
              </a:rPr>
              <a:t>https://climatepromise.undp.org/news-and-stories/what-climate-change-mitigation-and-why-it-urgent</a:t>
            </a:r>
            <a:r>
              <a:rPr lang="en-US" sz="1850" dirty="0"/>
              <a:t>?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130792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32145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 dirty="0">
                <a:solidFill>
                  <a:srgbClr val="213163"/>
                </a:solidFill>
              </a:rPr>
              <a:t>Thank You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4009</TotalTime>
  <Words>393</Words>
  <Application>Microsoft Office PowerPoint</Application>
  <PresentationFormat>Widescreen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Narrow</vt:lpstr>
      <vt:lpstr>Bahnschrift Condensed</vt:lpstr>
      <vt:lpstr>Courier New</vt:lpstr>
      <vt:lpstr>Roboto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Jathin M</cp:lastModifiedBy>
  <cp:revision>91</cp:revision>
  <dcterms:modified xsi:type="dcterms:W3CDTF">2025-11-06T11:01:53Z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